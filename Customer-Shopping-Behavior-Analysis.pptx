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Mono"/>
      <p:regular r:id="rId201314"/>
    </p:embeddedFont>
    <p:embeddedFont>
      <p:font typeface="IBM Plex Mono Medium"/>
      <p:regular r:id="rId201315"/>
    </p:embeddedFont>
    <p:embeddedFont>
      <p:font typeface="IBM Plex Mono Bold"/>
      <p:regular r:id="rId201316"/>
    </p:embeddedFont>
    <p:embeddedFont>
      <p:font typeface="IBM Plex Sans"/>
      <p:regular r:id="rId201317"/>
    </p:embeddedFont>
    <p:embeddedFont>
      <p:font typeface="IBM Plex Sans SemiBold"/>
      <p:regular r:id="rId201318"/>
    </p:embeddedFont>
    <p:embeddedFont>
      <p:font typeface="IBM Plex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588" y="2768600"/>
            <a:ext cx="8254793" cy="3048000"/>
          </a:xfrm>
          <a:prstGeom prst="roundRect">
            <a:avLst>
              <a:gd name="adj" fmla="val 875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87380" y="2997200"/>
            <a:ext cx="82547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ANALYTICS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7380" y="3298825"/>
            <a:ext cx="7645209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46546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Customer shopping</a:t>
            </a:r>
            <a:endParaRPr lang="en-US" sz="4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46546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behavior analysis.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87380" y="4641850"/>
            <a:ext cx="825479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raw transactions to business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247231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3548856"/>
            <a:ext cx="1097252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dataset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4666456"/>
            <a:ext cx="10972526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3,900 transactions, 18 features, one goal: understand how customers shop.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09585" y="5789612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604837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profile · purchase context · behavioral signals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683272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DATASET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984897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3,900 transactions across 18 features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3737372"/>
            <a:ext cx="347971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3,900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09585" y="4521597"/>
            <a:ext cx="3657509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943475"/>
            <a:ext cx="36575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record per purchase.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44889" y="3737372"/>
            <a:ext cx="3301917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44889" y="4521597"/>
            <a:ext cx="347971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4889" y="4943475"/>
            <a:ext cx="33019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combined view of customer, purchase, and behavior.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02397" y="3737372"/>
            <a:ext cx="347971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19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02397" y="4521597"/>
            <a:ext cx="347971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 groups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02397" y="4943475"/>
            <a:ext cx="3479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Demographics, purchase details, and behavioral signals.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9585" y="5589588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5848350"/>
            <a:ext cx="10972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5E636E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Demographics.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Age, gender, location, subscription status.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5E636E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Purchase details.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Item, category, amount, season, size, color. </a:t>
            </a:r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5E636E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Behavior.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Discounts, promo codes, purchase frequency, review rating, shipping type.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60743" y="3737372"/>
            <a:ext cx="12700" cy="160615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3737372"/>
            <a:ext cx="12700" cy="160615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760266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PYTHON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3061891"/>
            <a:ext cx="1097252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Cleaning and prep</a:t>
            </a:r>
            <a:endParaRPr lang="en-US" sz="7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 </a:t>
            </a:r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Python.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5093891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Getting the data ready for analysis.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09585" y="5789612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604837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pandas exploration · feature engineering · PostgreSQL handoff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42670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PREPARATION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3962301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Six steps from raw data to analysis-ready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915319"/>
            <a:ext cx="396230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pipeline retained source meaning while making the dataset consistent for 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894806"/>
            <a:ext cx="3962301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83719"/>
            <a:ext cx="396230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5E636E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Data decision.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promo_code_used duplicated the signal already represented by discount_applied, so the analysis model kept one consistent discount field.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164" y="533400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164" y="782340"/>
            <a:ext cx="2895528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164" y="893465"/>
            <a:ext cx="289552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Explore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164" y="1262559"/>
            <a:ext cx="28955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Loaded and explored the dataset with pandas (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483" y="533400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483" y="782340"/>
            <a:ext cx="2895528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483" y="893465"/>
            <a:ext cx="289562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Impute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483" y="1262559"/>
            <a:ext cx="289562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Imputed 37 missing Review Rating values using each category’s median.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164" y="2324497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164" y="2573437"/>
            <a:ext cx="2895528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164" y="2684562"/>
            <a:ext cx="289552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164" y="3053655"/>
            <a:ext cx="28955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Standardized columns to snake_case for readability.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483" y="2324497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483" y="2573437"/>
            <a:ext cx="2895528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483" y="2684562"/>
            <a:ext cx="289562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Engineer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483" y="3053655"/>
            <a:ext cx="289562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Engineered age_group and purchase_frequency_days features.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164" y="3863181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164" y="4112121"/>
            <a:ext cx="2895528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164" y="4223246"/>
            <a:ext cx="289552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Remove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164" y="4592340"/>
            <a:ext cx="2895528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Dropped promo_code_used after confirming redundancy with discount_applied.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483" y="3863181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86483" y="4112121"/>
            <a:ext cx="2895528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483" y="4223246"/>
            <a:ext cx="289562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00" spc="-72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Load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483" y="4592340"/>
            <a:ext cx="289562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Loaded the cleaned data into PostgreSQL for SQL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674666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POSTGRESQL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3976291"/>
            <a:ext cx="1097252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324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SQL findings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5093891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Ten business questions answered in PostgreSQL.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09585" y="5789612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604837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· discounts · products · shipping · subscriptions · customer segments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INVESTIGATION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2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Ten questions, one structured investigation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564084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query targeted a concrete business decision.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019697"/>
            <a:ext cx="342891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Revenue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440682"/>
            <a:ext cx="365750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by gender and by age group.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95688" y="2019697"/>
            <a:ext cx="320032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Discounts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5688" y="2440682"/>
            <a:ext cx="32003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High-spending discount users and discount-dependent products.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53196" y="2019697"/>
            <a:ext cx="342891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53196" y="2440682"/>
            <a:ext cx="342891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Top-rated and top-selling products by category.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3402707"/>
            <a:ext cx="342891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Fulfillment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5" y="3823692"/>
            <a:ext cx="365750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versus express shipping.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5688" y="3402707"/>
            <a:ext cx="320032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Membership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95688" y="3823692"/>
            <a:ext cx="3200320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Subscribers versus non-subscribers; repeat buyers and subscription likelihood.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3196" y="3402707"/>
            <a:ext cx="342891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Segments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53196" y="3823692"/>
            <a:ext cx="342891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New, Returning, and Loyal customers by purchase history.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5" y="4826992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508575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21" kern="0" dirty="0">
                <a:solidFill>
                  <a:srgbClr val="5E636E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Query logic.</a:t>
            </a:r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Customer attributes framed the comparisons; purchase history and transaction context supplied the behavioral evidence.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60743" y="2019697"/>
            <a:ext cx="12700" cy="115441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7918252" y="2019697"/>
            <a:ext cx="12700" cy="115441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3167757"/>
            <a:ext cx="3657509" cy="127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4260743" y="3174107"/>
            <a:ext cx="12700" cy="140682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7093" y="3167757"/>
            <a:ext cx="3657509" cy="127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7918252" y="3174107"/>
            <a:ext cx="12700" cy="140682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7924602" y="3167757"/>
            <a:ext cx="3657509" cy="127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458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85" y="609600"/>
            <a:ext cx="380990" cy="38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87" y="1295400"/>
            <a:ext cx="51814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4654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SEGMENT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7987" y="5419328"/>
            <a:ext cx="4673483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46546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New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07987" y="6072188"/>
            <a:ext cx="518147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First-time or very few purchases.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646" y="609600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0448" y="1295400"/>
            <a:ext cx="2870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SEGMENT 02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70448" y="5398790"/>
            <a:ext cx="248913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Returning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070448" y="5819775"/>
            <a:ext cx="248913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consistent but moderate purchase history.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765" y="609600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1567" y="1295400"/>
            <a:ext cx="2870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SEGMENT 03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321567" y="5398790"/>
            <a:ext cx="248913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172033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Loyal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321567" y="5819775"/>
            <a:ext cx="248913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High-frequency, high-history buyers.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471341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0F766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SUBSCRIPTION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377" y="2960291"/>
            <a:ext cx="1127731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Customers with </a:t>
            </a:r>
            <a:pPr algn="l" indent="0" marL="0">
              <a:lnSpc>
                <a:spcPct val="93000"/>
              </a:lnSpc>
              <a:buNone/>
            </a:pPr>
            <a:r>
              <a:rPr lang="en-US" sz="32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than 5 purchases</a:t>
            </a:r>
            <a:pPr algn="l" indent="0" marL="0">
              <a:lnSpc>
                <a:spcPct val="93000"/>
              </a:lnSpc>
              <a:buNone/>
            </a:pPr>
            <a:r>
              <a:rPr lang="en-US" sz="32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subscribe more.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884091"/>
            <a:ext cx="25399" cy="6075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694807"/>
            <a:ext cx="1158211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 buyers showed a stronger tilt toward subscription than occasional shoppers.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18653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5E63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Purchase history depth is a useful signal for membership targeting.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126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458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33400"/>
            <a:ext cx="51814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4654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CLOSING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87" y="4564459"/>
            <a:ext cx="4673483" cy="1282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spc="-148" kern="0" dirty="0">
                <a:solidFill>
                  <a:srgbClr val="46546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Discounts and shipping speed both move average spend.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7987" y="6072188"/>
            <a:ext cx="518147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comparisons stood out in the transaction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89458" y="0"/>
            <a:ext cx="3251119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70448" y="533400"/>
            <a:ext cx="2870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4654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COMPARISON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70448" y="4241502"/>
            <a:ext cx="248913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46546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Discount behavior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70448" y="4662488"/>
            <a:ext cx="2489138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subset of discount users still spent above the average purchase amount.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70448" y="5665788"/>
            <a:ext cx="2489039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6070448" y="5924550"/>
            <a:ext cx="24891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465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Discount use does not automatically imply low spend.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40576" y="0"/>
            <a:ext cx="3251119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321567" y="533400"/>
            <a:ext cx="2870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110" kern="0" dirty="0">
                <a:solidFill>
                  <a:srgbClr val="4654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COMPARISON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1567" y="4241502"/>
            <a:ext cx="248913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spc="-90" kern="0" dirty="0">
                <a:solidFill>
                  <a:srgbClr val="46546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Shipping choice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1567" y="4662488"/>
            <a:ext cx="2489138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4654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Express and standard shipping showed a measurable gap in average purchase amount.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1567" y="5665788"/>
            <a:ext cx="2489039" cy="12601"/>
          </a:xfrm>
          <a:prstGeom prst="roundRect">
            <a:avLst>
              <a:gd name="adj" fmla="val 49998"/>
            </a:avLst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9321567" y="5924550"/>
            <a:ext cx="24891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21" kern="0" dirty="0">
                <a:solidFill>
                  <a:srgbClr val="4654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Fulfillment choice is part of the spending context.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2026-09-20T18:47:49Z</dcterms:created>
  <dcterms:modified xsi:type="dcterms:W3CDTF">2026-09-20T18:47:49Z</dcterms:modified>
</cp:coreProperties>
</file>